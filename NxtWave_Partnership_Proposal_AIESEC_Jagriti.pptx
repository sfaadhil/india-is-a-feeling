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Job Ready</c:v>
                </c:pt>
              </c:strCache>
            </c:strRef>
          </c:tx>
          <c:spPr>
            <a:solidFill>
              <a:srgbClr val="D4A8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Engineering</c:v>
                  </c:pt>
                  <c:pt idx="1">
                    <c:v>Commerce</c:v>
                  </c:pt>
                  <c:pt idx="2">
                    <c:v>Arts</c:v>
                  </c:pt>
                  <c:pt idx="3">
                    <c:v>Sciences</c:v>
                  </c:pt>
                  <c:pt idx="4">
                    <c:v>Mgmt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38</c:v>
                </c:pt>
                <c:pt idx="2">
                  <c:v>27</c:v>
                </c:pt>
                <c:pt idx="3">
                  <c:v>42</c:v>
                </c:pt>
                <c:pt idx="4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D4A847"/>
                </a:solidFill>
              </a:rPr>
              <a:t>FROM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731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AIESEC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 INDIA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2468880" cy="36576"/>
          </a:xfrm>
          <a:prstGeom prst="rect">
            <a:avLst/>
          </a:prstGeom>
          <a:solidFill>
            <a:srgbClr val="F0D99E"/>
          </a:solidFill>
          <a:ln w="12700">
            <a:solidFill>
              <a:srgbClr val="F0D9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733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0D99E"/>
                </a:solidFill>
              </a:rPr>
              <a:t>IN COLLABORATION WITH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6032" y="193852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JAGRITI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YATRA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6032" y="4114800"/>
            <a:ext cx="2468880" cy="36576"/>
          </a:xfrm>
          <a:prstGeom prst="rect">
            <a:avLst/>
          </a:prstGeom>
          <a:solidFill>
            <a:srgbClr val="F0D99E"/>
          </a:solidFill>
          <a:ln w="12700">
            <a:solidFill>
              <a:srgbClr val="F0D9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4206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[Name, Designation]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[email@aiesec.in]  |  [+91 XXXXX]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685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4A847"/>
                </a:solidFill>
              </a:rPr>
              <a:t>STRATEGIC PARTNERSHIP PROPOSAL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Building India's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Largest Youth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Employability &amp;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Skills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Movement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246120" y="4023360"/>
            <a:ext cx="2560320" cy="36576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133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Presented to NxtWave Leadership  ·  June 2026  ·  Confidential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4480560"/>
            <a:ext cx="1783080" cy="5943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4507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</a:rPr>
              <a:t>4,000+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9272" y="4800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Students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66360" y="4480560"/>
            <a:ext cx="1783080" cy="5943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4507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</a:rPr>
              <a:t>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39512" y="4800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Cities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86600" y="4480560"/>
            <a:ext cx="1783080" cy="5943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4507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7"/>
                </a:solidFill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9752" y="4800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Movement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A"/>
                </a:solidFill>
              </a:rPr>
              <a:t>A Strategic Partnership Opportunity at National Scale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4A"/>
                </a:solidFill>
              </a:rPr>
              <a:t>AIESEC in India and Jagriti Yatra invite NxtWave to co-create India's most impactful youth employability initiative — reaching 4,000 university students across 8 cities through curated skill development, career readiness, and future-skills programming. No financial commitment is required; this is a pure value-for-value partnership.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7157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20240"/>
            <a:ext cx="271576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299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2A4A"/>
                </a:solidFill>
              </a:rPr>
              <a:t>THE INITIATIVE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423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</a:rPr>
              <a:t>A multi-city youth impact programme co-delivered by AIESEC — the world's largest youth-led organisation — and Jagriti Yatra, India's premier entrepreneurship journey, spanning 8 cities in a single cohesive campaign.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920240"/>
            <a:ext cx="27157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920240"/>
            <a:ext cx="271576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0299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2A4A"/>
                </a:solidFill>
              </a:rPr>
              <a:t>THE ASK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2651760"/>
            <a:ext cx="2423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</a:rPr>
              <a:t>NxtWave to serve as the exclusive Employability &amp; Skill Development Partner — providing training modules, career readiness content, and certification for all 4,000 participants. Zero financial outlay.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17336" y="1920240"/>
            <a:ext cx="27157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1920240"/>
            <a:ext cx="271576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299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2A4A"/>
                </a:solidFill>
              </a:rPr>
              <a:t>THE RETURN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54496" y="2651760"/>
            <a:ext cx="24231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4A"/>
                </a:solidFill>
              </a:rPr>
              <a:t>Branding across 8 cities, 8 dedicated speaker slots, 20+ co-branded success stories, qualified lead access, a full impact report, and co-ownership of a nationally recognised youth skilling movement.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ABOUT THE PARTNERS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Two of India's Most Trusted Youth Platforms —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069080" cy="33375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73152" cy="333756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AIESEC IN INDIA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847"/>
                </a:solidFill>
              </a:rPr>
              <a:t>World's Largest Youth-Led Organisation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130552"/>
            <a:ext cx="3566160" cy="27432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04288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49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120+ countries, 100+ cities across India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Internship exchanges, leadership &amp; development programmes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072384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35,000+ active members in India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456432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Trusted partner of Fortune 500 companies globally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Aligned with UN Sustainable Development Goals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069080" cy="333756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298448"/>
            <a:ext cx="73152" cy="33375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JAGRITI YATRA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7C8C"/>
                </a:solidFill>
              </a:rPr>
              <a:t>India's Premier Youth Entrepreneurship Journey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130552"/>
            <a:ext cx="3566160" cy="27432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04288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2249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15-day train journey connecting youth across India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88336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633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Exposes students to grassroots entrepreneurs &amp; changemakers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072384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017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15+ years of national-scale proven impact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4015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Alumni in India's top organisations and startups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4048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01768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Platform for discovery, enterprise and social purpose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D4A847"/>
                </a:solidFill>
              </a:rPr>
              <a:t>THE OPPORTUNITY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One Partnership.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National-Scale Impact.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 Generation Transformed.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99E"/>
                </a:solidFill>
              </a:rPr>
              <a:t>The convergence of AIESEC's operational reach and Jagriti Yatra's inspirational platform creates a unique channel to deliver NxtWave's employability curriculum to India's most motivated students — at a scale and authenticity no other partnership can replicate.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1627632" cy="175564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594360"/>
            <a:ext cx="1627632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784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4,000+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69280" y="16733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Students Reached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33488" y="594360"/>
            <a:ext cx="1627632" cy="175564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33488" y="594360"/>
            <a:ext cx="1627632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9784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24928" y="16733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Cities Simultaneously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2651760"/>
            <a:ext cx="1627632" cy="175564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651760"/>
            <a:ext cx="1627632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30358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100%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669280" y="37307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Verified Youth Audience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33488" y="2651760"/>
            <a:ext cx="1627632" cy="175564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3488" y="2651760"/>
            <a:ext cx="1627632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3035808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₹0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24928" y="373075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Financial Outlay Required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99E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India's Youth Employability Crisis Is Structural — Not Cyclical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64008" cy="7498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</a:rPr>
              <a:t>51.3%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27632" y="13624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4A"/>
                </a:solidFill>
              </a:rPr>
              <a:t>of Indian graduates are not job-ready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27632" y="174650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D"/>
                </a:solidFill>
              </a:rPr>
              <a:t>India Skills Report 2023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39696"/>
            <a:ext cx="64008" cy="7498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128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27632" y="220370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4A"/>
                </a:solidFill>
              </a:rPr>
              <a:t>of employers cite skills gap as top hiring challenge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27632" y="258775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D"/>
                </a:solidFill>
              </a:rPr>
              <a:t>NASSCOM Talent Report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980944"/>
            <a:ext cx="64008" cy="7498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540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</a:rPr>
              <a:t>47M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27632" y="30449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4A"/>
                </a:solidFill>
              </a:rPr>
              <a:t>youth expected to enter the workforce by 2030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27632" y="3429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D"/>
                </a:solidFill>
              </a:rPr>
              <a:t>World Bank India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822192"/>
            <a:ext cx="4251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822192"/>
            <a:ext cx="64008" cy="7498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953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</a:rPr>
              <a:t>&lt;12%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27632" y="3886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A4A"/>
                </a:solidFill>
              </a:rPr>
              <a:t>STEM graduates have industry-relevant digital skills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27632" y="42702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B8D"/>
                </a:solidFill>
              </a:rPr>
              <a:t>AICTE Data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19472" y="1261872"/>
            <a:ext cx="3813048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56632" y="138988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4A"/>
                </a:solidFill>
              </a:rPr>
              <a:t>% Employable Graduates by Stream (India)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56632" y="167335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B8D"/>
                </a:solidFill>
              </a:rPr>
              <a:t>Source: India Skills Report 2023  |  *Indicative</a:t>
            </a:r>
            <a:endParaRPr lang="en-US" sz="7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919472" y="1920240"/>
          <a:ext cx="3813048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WHY NXTWAVE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The Only Platform Positioned to Deliver This at Scale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</a:rPr>
              <a:t>NxtWave's industry-aligned curriculum, vernacular delivery, and outcome-driven model makes it uniquely suited to serve India's most diverse youth cohort.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64208"/>
            <a:ext cx="274320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Outcome-First Curriculum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Built around real hiring outcomes. Modules close the exact skill gaps flagged by India's top employers — not generic content.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66420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64208"/>
            <a:ext cx="2743200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C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Vernacular-First Delivery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59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Available in 10+ Indian languages — ensuring zero students are excluded regardless of academic background or home state.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66420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664208"/>
            <a:ext cx="2743200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73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A2A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Proven at Scale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359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500,000+ learners. 700+ hiring companies. A track record that speaks directly to the transformation this partnership aims to drive.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17296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72968"/>
            <a:ext cx="274320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82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Career-Linked Learning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867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Every module connects to an employability outcome — internships, certifications, placement support — not just knowledge transfer.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17296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172968"/>
            <a:ext cx="2743200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282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C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Student-Centric Design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3867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Bite-sized, mobile-first, self-paced modules built for the lifestyle of university students, not just working professionals.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172968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172968"/>
            <a:ext cx="2743200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282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A2A"/>
                </a:solidFill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Brand Resonance with Youth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8679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One of India's most recognised ed-tech brands among 18–25 year-olds — the exact demographic of our cohort.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D4A847"/>
                </a:solidFill>
              </a:rPr>
              <a:t>PROPOSED PARTNERSHIP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Three-Way Value Exchange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2743200" cy="35661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43000"/>
            <a:ext cx="2743200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47"/>
                </a:solidFill>
              </a:rPr>
              <a:t>AIESEC × JAGRITI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755648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007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Student mobilisation across 8 cities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228600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2311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Programme facilitation &amp; logistics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2816352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614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Branding &amp; marketing platform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" y="3346704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291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Impact documentation &amp; reporting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3877056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82219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Post-event community engagement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1143000"/>
            <a:ext cx="2743200" cy="35661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1143000"/>
            <a:ext cx="2743200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C8C"/>
                </a:solidFill>
              </a:rPr>
              <a:t>JOINT OUTCOMES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1755648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38728" y="17007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4,000 employable graduates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228600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8728" y="22311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NxtWave brand presence in 8 cities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01568" y="2816352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38728" y="27614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20+ documented success stories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01568" y="3346704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3291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National recognition as skills partner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01568" y="3877056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82219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Shared data-driven impact report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1143000"/>
            <a:ext cx="2743200" cy="3566160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44768" y="1143000"/>
            <a:ext cx="2743200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1234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6A2A"/>
                </a:solidFill>
              </a:rPr>
              <a:t>NXTWAVE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81928" y="1755648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700784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Curated training content &amp; delivery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81928" y="228600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231136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Certification for all participants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81928" y="2816352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76148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Career readiness modules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81928" y="3346704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29184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Technical skills exposure sessions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81928" y="3877056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822192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Internship readiness support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2852928"/>
            <a:ext cx="164592" cy="27432"/>
          </a:xfrm>
          <a:prstGeom prst="rect">
            <a:avLst/>
          </a:prstGeom>
          <a:solidFill>
            <a:srgbClr val="F0D99E"/>
          </a:solidFill>
          <a:ln w="12700">
            <a:solidFill>
              <a:srgbClr val="F0D99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9320" y="2852928"/>
            <a:ext cx="164592" cy="27432"/>
          </a:xfrm>
          <a:prstGeom prst="rect">
            <a:avLst/>
          </a:prstGeom>
          <a:solidFill>
            <a:srgbClr val="F0D99E"/>
          </a:solidFill>
          <a:ln w="12700">
            <a:solidFill>
              <a:srgbClr val="F0D9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99E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DELIVERABLES FROM NXTWAVE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What We Are Requesting — No Financial Commitment Required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8D"/>
                </a:solidFill>
              </a:rPr>
              <a:t>In-kind partnership: curated training, career enablement, and certification across all 4,000 students.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Training Delivery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568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Curated learning experience for all 4,000 students across 8 cities — in-person, hybrid, or digital as mutually agreed.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3168" y="157276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57276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0096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Employability Modules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0096" y="19568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Future-skills and career readiness curriculum: resume building, interview preparation, professional communication.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7004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7004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Technical Skill Sessions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0540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Domain-specific exposure sessions covering full-stack, AI tools, data fundamentals, and digital literacy.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67004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267004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999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Internship Readiness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0096" y="30540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Structured module equipping students with skills and confidence to pursue and excel in internship opportunities.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76732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6732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Certification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4151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NxtWave-branded certificates issued upon completion — adding verifiable credential value to each student's profile.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376732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3767328"/>
            <a:ext cx="475488" cy="10058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7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Advanced Pathway Access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0096" y="4151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[Optional] Preferential or discounted access to NxtWave advanced programmes for interested participants.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DELIVERABLES FROM AIESEC × JAGRITI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What NxtWave Receives in Return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B8D"/>
                </a:solidFill>
              </a:rPr>
              <a:t>A comprehensive visibility, access, and impact package — delivered consistently across all 8 city chapters.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7276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Exclusive Category Partnership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9568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NxtWave named as sole Employability &amp; Skill Development Partner. No competing ed-tech brand in the programme.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3168" y="157276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57276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90195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0096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Reach to 4,000 Students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0096" y="195681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Direct, verified access to 4,000 university students actively seeking career growth — across engineering, management, and arts institutions.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67004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7004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9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Branding Across 8 Cities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30540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NxtWave branding on all programme materials, event spaces, digital communications, and social posts across all city chapters.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67004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267004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999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0096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8 Speaking Opportunities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0096" y="30540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Dedicated speaker slot at each city chapter — direct engagement with students via product demos or career inspiration talks.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76732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6732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840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20 Co-Branded Success Stories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4151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Curated student impact testimonials documented by AIESEC &amp; Jagriti, co-branded and cleared for NxtWave marketing use.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3767328"/>
            <a:ext cx="417880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3767328"/>
            <a:ext cx="475488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409651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Data, Leads &amp; Impact Report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0096" y="41513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Post-programme lead list of interested students, participant engagement data, and a full co-branded impact report.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STUDENT ENGAGEMENT JOURNEY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From Discovery to Career Readiness — Five Stages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76809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487168"/>
            <a:ext cx="475488" cy="475488"/>
          </a:xfrm>
          <a:prstGeom prst="ellipse">
            <a:avLst/>
          </a:prstGeom>
          <a:solidFill>
            <a:srgbClr val="0B1D3A"/>
          </a:solidFill>
          <a:ln w="254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92608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926080"/>
            <a:ext cx="15087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DISCOVER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333756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</a:rPr>
              <a:t>Student joins AIESEC × Jagriti city programme. Introduced to NxtWave as the official skills partner.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A4A"/>
                </a:solidFill>
              </a:rPr>
              <a:t>DISCOVER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53312" y="1691640"/>
            <a:ext cx="18288" cy="786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34056" y="2487168"/>
            <a:ext cx="475488" cy="475488"/>
          </a:xfrm>
          <a:prstGeom prst="ellipse">
            <a:avLst/>
          </a:prstGeom>
          <a:solidFill>
            <a:srgbClr val="0B1D3A"/>
          </a:solidFill>
          <a:ln w="254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7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76856" y="292608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76856" y="2926080"/>
            <a:ext cx="15087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68296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ORIENT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68296" y="333756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</a:rPr>
              <a:t>Orientation session on the future of work, in-demand skills, and the NxtWave learning pathway.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76856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A4A"/>
                </a:solidFill>
              </a:rPr>
              <a:t>ORIENT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71800" y="1691640"/>
            <a:ext cx="18288" cy="786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2544" y="2487168"/>
            <a:ext cx="475488" cy="475488"/>
          </a:xfrm>
          <a:prstGeom prst="ellipse">
            <a:avLst/>
          </a:prstGeom>
          <a:solidFill>
            <a:srgbClr val="0B1D3A"/>
          </a:solidFill>
          <a:ln w="25400">
            <a:solidFill>
              <a:srgbClr val="D4A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7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95344" y="292608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95344" y="2926080"/>
            <a:ext cx="15087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86784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LEARN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86784" y="333756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</a:rPr>
              <a:t>Structured NxtWave training: technical skills, employability tools, career readiness modules.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95344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A4A"/>
                </a:solidFill>
              </a:rPr>
              <a:t>LEARN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90288" y="1691640"/>
            <a:ext cx="18288" cy="786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71032" y="2487168"/>
            <a:ext cx="475488" cy="475488"/>
          </a:xfrm>
          <a:prstGeom prst="ellipse">
            <a:avLst/>
          </a:prstGeom>
          <a:solidFill>
            <a:srgbClr val="0B1D3A"/>
          </a:solidFill>
          <a:ln w="25400">
            <a:solidFill>
              <a:srgbClr val="D4A8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7103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7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13832" y="292608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13832" y="2926080"/>
            <a:ext cx="15087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5272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CERTIFY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05272" y="333756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</a:rPr>
              <a:t>Student completes assessment. Receives a NxtWave-branded certificate of programme completion.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A4A"/>
                </a:solidFill>
              </a:rPr>
              <a:t>CERTIFY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08776" y="1691640"/>
            <a:ext cx="18288" cy="786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2487168"/>
            <a:ext cx="475488" cy="475488"/>
          </a:xfrm>
          <a:prstGeom prst="ellipse">
            <a:avLst/>
          </a:prstGeom>
          <a:solidFill>
            <a:srgbClr val="0B1D3A"/>
          </a:solidFill>
          <a:ln w="25400">
            <a:solidFill>
              <a:srgbClr val="D4A8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7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132320" y="2926080"/>
            <a:ext cx="15087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0" y="2926080"/>
            <a:ext cx="150876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0175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CONVERT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3337560"/>
            <a:ext cx="1325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A4A"/>
                </a:solidFill>
              </a:rPr>
              <a:t>Motivated students are introduced to NxtWave advanced programmes. Warm lead handed over with consent.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14173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A2A4A"/>
                </a:solidFill>
              </a:rPr>
              <a:t>CONVERT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27264" y="1691640"/>
            <a:ext cx="18288" cy="786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4A847"/>
                </a:solidFill>
              </a:rPr>
              <a:t>PARTNERSHIP VISIBILITY &amp; BRAND INTEGRATION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Touchpoint. Every City. Every Student.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1719072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4114800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7"/>
                </a:solidFill>
              </a:rPr>
              <a:t>DIGITAL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618488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6362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Social media across Instagram, LinkedIn, Twitter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901952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4708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Email campaigns to student communities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185416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13055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Programme micro-website co-branding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1401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Digital certificate with NxtWave branding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115568"/>
            <a:ext cx="4114800" cy="1719072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115568"/>
            <a:ext cx="4114800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7C8C"/>
                </a:solidFill>
              </a:rPr>
              <a:t>ON-GROUND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618488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56362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Event banners &amp; backdrops at all 8 cities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1901952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84708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Roll-up standees at all training sessions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0" y="2185416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13055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Welcome kits / student handouts co-branded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468880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41401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Stage branding at key city events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90088"/>
            <a:ext cx="4114800" cy="1719072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990088"/>
            <a:ext cx="4114800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6A2A"/>
                </a:solidFill>
              </a:rPr>
              <a:t>CONTENT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493008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43814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20 co-branded student success stories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3776472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72160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 post-event city impact social posts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059936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0050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Co-branded impact report (full NxtWave logo)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4343400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28853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Minimum 5 video testimonials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990088"/>
            <a:ext cx="4114800" cy="1719072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990088"/>
            <a:ext cx="41148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081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SPEAKING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3493008"/>
            <a:ext cx="548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56632" y="3438144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 dedicated NxtWave speaker slot per city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776472"/>
            <a:ext cx="548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56632" y="372160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 as Official Skills Partner by host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37760" y="4059936"/>
            <a:ext cx="548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56632" y="40050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Live Q&amp;A / interactive career session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37760" y="4343400"/>
            <a:ext cx="5486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56632" y="428853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Optional live demo of the NxtWave platform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99E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EXPECTED OUTCOMES &amp; KPIS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Measuring Impact. Proving Value. Building a Scalable Model.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1938528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4,000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Students Trained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207008"/>
            <a:ext cx="1938528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26187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City Chapters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207008"/>
            <a:ext cx="1938528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6187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20+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Success Stories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207008"/>
            <a:ext cx="1938528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261872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7"/>
                </a:solidFill>
              </a:rPr>
              <a:t>≥80%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73736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Completion Rate Target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8321040" cy="237744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KPI METRIC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MEASUREMENT METHOD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Student Attendance per City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85%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AIESEC chapter attendance records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Module Completion 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80% of registered students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NxtWave platform analytics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Assessment Pass 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75%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NxtWave certification system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Student Satisfaction / NPS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8.0 / 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Post-event digital survey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Warm Leads for NxtWave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500 consented leads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Consent-based data collection form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Social Media Reach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≥ 100,000 impressions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Combined platform analytics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Success Stories Documented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20 co-branded stories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A4A"/>
                          </a:solidFill>
                        </a:rPr>
                        <a:t>AIESEC &amp; Jagriti content team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PARTNERSHIP TIMELINE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From Alignment to Impact — A Four-Phase Rollout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2331720"/>
            <a:ext cx="832104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2176272"/>
            <a:ext cx="310896" cy="310896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2029968" cy="102412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7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Agreement &amp;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47"/>
                </a:solidFill>
              </a:rPr>
              <a:t>Month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53312" y="2231136"/>
            <a:ext cx="18288" cy="10058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14600"/>
            <a:ext cx="2029968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14600"/>
            <a:ext cx="2029968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9748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651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MOU Signing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Curriculum Alignment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Brand Exchange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Logistics Planning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2176272"/>
            <a:ext cx="310896" cy="310896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1207008"/>
            <a:ext cx="2029968" cy="102412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7C8C"/>
                </a:solidFill>
              </a:rPr>
              <a:t>PHASE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7004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Pre-Programme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7004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7C8C"/>
                </a:solidFill>
              </a:rPr>
              <a:t>Month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02152" y="2231136"/>
            <a:ext cx="18288" cy="10058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2514600"/>
            <a:ext cx="2029968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2514600"/>
            <a:ext cx="2029968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269748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2651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City Onboarding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97480" y="315468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Student Registration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97480" y="361188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16352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Platform Access Setup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97480" y="406908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16352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Speaker Scheduling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04688" y="2176272"/>
            <a:ext cx="310896" cy="310896"/>
          </a:xfrm>
          <a:prstGeom prst="ellipse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207008"/>
            <a:ext cx="2029968" cy="102412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6A2A"/>
                </a:solidFill>
              </a:rPr>
              <a:t>PHASE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1888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Programme Delivery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1888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6A2A"/>
                </a:solidFill>
              </a:rPr>
              <a:t>Month 3–4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50992" y="2231136"/>
            <a:ext cx="18288" cy="10058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2514600"/>
            <a:ext cx="2029968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514600"/>
            <a:ext cx="2029968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69748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65192" y="2651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8 City Events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315468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Training Delivery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46320" y="361188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65192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Technical Sessions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406908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65192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Certification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653528" y="2176272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1207008"/>
            <a:ext cx="2029968" cy="1024128"/>
          </a:xfrm>
          <a:prstGeom prst="rect">
            <a:avLst/>
          </a:prstGeom>
          <a:solidFill>
            <a:srgbClr val="0B1D3A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</a:rPr>
              <a:t>PHASE 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67728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Post-Programme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67728" y="1801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</a:rPr>
              <a:t>Month 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799832" y="2231136"/>
            <a:ext cx="18288" cy="100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58000" y="2514600"/>
            <a:ext cx="2029968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58000" y="2514600"/>
            <a:ext cx="20299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95160" y="2697480"/>
            <a:ext cx="640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14032" y="2651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Impact Data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95160" y="3154680"/>
            <a:ext cx="640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14032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Lead Handover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995160" y="3611880"/>
            <a:ext cx="640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Success Stories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95160" y="4069080"/>
            <a:ext cx="640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14032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Co-Branded Report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GOVERNANCE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Clear Ownership. Shared Accountability. Zero Ambiguity.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34640" y="1298448"/>
            <a:ext cx="3474720" cy="7315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83464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4A847"/>
                </a:solidFill>
              </a:rPr>
              <a:t>JOINT STEERING COMMITTEE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664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AIESEC National  ·  Jagriti Leadership  ·  NxtWave BD Head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2029968"/>
            <a:ext cx="18288" cy="34747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77440"/>
            <a:ext cx="74066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258568"/>
            <a:ext cx="256032" cy="256032"/>
          </a:xfrm>
          <a:prstGeom prst="ellips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14600"/>
            <a:ext cx="2468880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514600"/>
            <a:ext cx="2468880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Programme Lead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847"/>
                </a:solidFill>
              </a:rPr>
              <a:t>AIESEC in India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City chapter coordination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Student mobilisation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Logistics &amp; scheduling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6400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Attendance tracking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258568"/>
            <a:ext cx="256032" cy="256032"/>
          </a:xfrm>
          <a:prstGeom prst="ellipse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514600"/>
            <a:ext cx="2468880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514600"/>
            <a:ext cx="2468880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Experience Lead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C8C"/>
                </a:solidFill>
              </a:rPr>
              <a:t>Jagriti Yatra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324612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Narrative &amp; storytelling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356616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Success story capture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0" y="388620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Brand ambassadors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0" y="4206240"/>
            <a:ext cx="64008" cy="640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Post-event documentation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06640" y="2258568"/>
            <a:ext cx="256032" cy="256032"/>
          </a:xfrm>
          <a:prstGeom prst="ellipse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2514600"/>
            <a:ext cx="2468880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2514600"/>
            <a:ext cx="2468880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Content Lead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6A2A"/>
                </a:solidFill>
              </a:rPr>
              <a:t>NxtWave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324612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Curriculum delivery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356616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Platform access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0" y="388620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9672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Certification issuance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0" y="4206240"/>
            <a:ext cx="64008" cy="64008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9672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A4A"/>
                </a:solidFill>
              </a:rPr>
              <a:t>Lead qualification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38404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A2A4A"/>
                </a:solidFill>
              </a:rPr>
              <a:t>SUCCESS MEASUREMENT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</a:rPr>
              <a:t>How We Define, Track, and Report Success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663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64008" cy="109728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3502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Quantitative Metrics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00784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Students trained per city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3794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Module completion &amp; certification rates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048256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11680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Assessment scores and pass rates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221992"/>
            <a:ext cx="54864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18541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Lead volume for NxtWave pipeline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450592"/>
            <a:ext cx="4663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450592"/>
            <a:ext cx="64008" cy="10972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237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Qualitative Metrics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85292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Student satisfaction &amp; NPS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063240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02666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Quality of co-branded success stories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236976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200400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NxtWave brand recall post-programme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3410712"/>
            <a:ext cx="54864" cy="54864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37413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Employer perception (optional survey)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639312"/>
            <a:ext cx="4663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639312"/>
            <a:ext cx="64008" cy="1097280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1246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4A"/>
                </a:solidFill>
              </a:rPr>
              <a:t>Conversion Metrics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078224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041648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Students enrolled in advanced NxtWave plans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4251960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21538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Internships / placements linked to training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" y="4425696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389120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Social media reach &amp; engagement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4599432"/>
            <a:ext cx="54864" cy="54864"/>
          </a:xfrm>
          <a:prstGeom prst="rect">
            <a:avLst/>
          </a:prstGeom>
          <a:solidFill>
            <a:srgbClr val="E86A2A"/>
          </a:solidFill>
          <a:ln w="12700">
            <a:solidFill>
              <a:srgbClr val="E86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56285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B8D"/>
                </a:solidFill>
              </a:rPr>
              <a:t>Media coverage / press mentions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85232" y="1261872"/>
            <a:ext cx="3447288" cy="340156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85232" y="1261872"/>
            <a:ext cx="3447288" cy="64008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137160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47"/>
                </a:solidFill>
              </a:rPr>
              <a:t>REPORTING CADENCE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40680" y="1810512"/>
            <a:ext cx="868680" cy="2743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1810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D3A"/>
                </a:solidFill>
              </a:rPr>
              <a:t>Weekly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400800" y="18105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City chapter progress via shared dashboard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40680" y="2560320"/>
            <a:ext cx="868680" cy="2743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2560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D3A"/>
                </a:solidFill>
              </a:rPr>
              <a:t>Post-City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00800" y="256032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Individual city impact report after each event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40680" y="3310128"/>
            <a:ext cx="868680" cy="2743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33101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D3A"/>
                </a:solidFill>
              </a:rPr>
              <a:t>Mid-Point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0" y="331012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Consolidated review at the 4-city mark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40680" y="4059936"/>
            <a:ext cx="868680" cy="2743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0680" y="4059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D3A"/>
                </a:solidFill>
              </a:rPr>
              <a:t>Final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0" y="4059936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impact report: data, stories, leads, media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B8D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8D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D4A847"/>
                </a:solidFill>
              </a:rPr>
              <a:t>THE NEXT STEP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Let's Build This Together.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D99E"/>
                </a:solidFill>
              </a:rPr>
              <a:t>We invite NxtWave leadership to a 30-minute discovery call to explore how this partnership can be structured for maximum mutual impact. A formal MOU can be ready within two weeks of alignment.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280160" y="2395728"/>
            <a:ext cx="2121408" cy="111556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395728"/>
            <a:ext cx="2121408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4871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7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Schedule a 30-min discovery call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75888" y="2395728"/>
            <a:ext cx="2121408" cy="111556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2395728"/>
            <a:ext cx="2121408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24871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7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3048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Align on programme structure &amp; MOU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395728"/>
            <a:ext cx="2121408" cy="1115568"/>
          </a:xfrm>
          <a:prstGeom prst="rect">
            <a:avLst/>
          </a:prstGeom>
          <a:solidFill>
            <a:srgbClr val="152D57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2395728"/>
            <a:ext cx="2121408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248716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7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8776" y="28529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Launch planning &amp; kick off delivery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47"/>
                </a:solidFill>
              </a:rPr>
              <a:t>CONTACT US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[Name, Designation]  —  AIESEC in India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25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D"/>
                </a:solidFill>
              </a:rPr>
              <a:t>[email@aiesec.in]   |   [+91 XXXXX XXXXX]   |   www.aiesec.in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6858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99E"/>
                </a:solidFill>
              </a:rPr>
              <a:t>AIESEC × Jagriti Yatra  |  NxtWave Strategic Partnership Proposal  |  Confidential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595360" y="4818888"/>
            <a:ext cx="457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7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3657600" cy="5143500"/>
          </a:xfrm>
          <a:prstGeom prst="rect">
            <a:avLst/>
          </a:prstGeom>
          <a:solidFill>
            <a:srgbClr val="152D57"/>
          </a:solidFill>
          <a:ln w="12700">
            <a:solidFill>
              <a:srgbClr val="152D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502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AIESEC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 INDIA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2926080" cy="36576"/>
          </a:xfrm>
          <a:prstGeom prst="rect">
            <a:avLst/>
          </a:prstGeom>
          <a:solidFill>
            <a:srgbClr val="F0D99E"/>
          </a:solidFill>
          <a:ln w="12700">
            <a:solidFill>
              <a:srgbClr val="F0D9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44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99E"/>
                </a:solidFill>
              </a:rPr>
              <a:t>IN COLLABORATION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D99E"/>
                </a:solidFill>
              </a:rPr>
              <a:t>JAGRITI YATRA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7"/>
                </a:solidFill>
              </a:rPr>
              <a:t>CONTACT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2633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[Name], National President — AIESEC in India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953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[email@aiesec.in]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3273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[+91 XXXXX XXXXX]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www.aiesec.in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1005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You.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023360" y="2057400"/>
            <a:ext cx="2286000" cy="54864"/>
          </a:xfrm>
          <a:prstGeom prst="rect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22402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99E"/>
                </a:solidFill>
              </a:rPr>
              <a:t>Together, we can equip 4,000 young Indians with the skills, confidence, and clarity to thrive in the careers of tomorrow.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</a:rPr>
              <a:t>Strategic Partnership Proposal  ·  June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NxtWave Partnership Proposal – AIESEC × Jagriti Yatra</dc:title>
  <dc:subject>PptxGenJS Presentation</dc:subject>
  <dc:creator>AIESEC in India</dc:creator>
  <cp:lastModifiedBy>AIESEC in India</cp:lastModifiedBy>
  <cp:revision>1</cp:revision>
  <dcterms:created xsi:type="dcterms:W3CDTF">2026-06-16T16:42:18Z</dcterms:created>
  <dcterms:modified xsi:type="dcterms:W3CDTF">2026-06-16T16:42:18Z</dcterms:modified>
</cp:coreProperties>
</file>